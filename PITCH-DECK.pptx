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Speak: 'ChartRunner. Fortnite meets Space Invaders meets a trading chart. Every trade is a game move.'</a:t>
            </a:r>
          </a:p>
          <a:p>
            <a:r>
              <a:t>Pause. Let it breathe. Don't read the slide aloud — talk past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Speak: 'Trading apps are a hospital monitor. 74% of new retail traders quit in 90 days. Not because they're stupid — because the on-ramp is a cliff.'</a:t>
            </a:r>
          </a:p>
          <a:p>
            <a:r>
              <a:t>Look at the audience. This is the universal pain. Don't soft-pedal the stat.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Speak: 'We turn the cliff into a game. Every primitive — bracket, ladder, OCO — is taught as a mechanic. The hand learns where the stop goes. And here's the trick: every mechanic in the game routes through a real SDK. What you practice is what graduates.'</a:t>
            </a:r>
          </a:p>
          <a:p>
            <a:r>
              <a:t>Point at the third column. That's the unlock.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Speak: 'I'm going to show you the prototype. It's one HTML file. No build, no install. Open it. Let's place a bracket.'</a:t>
            </a:r>
          </a:p>
          <a:p>
            <a:r>
              <a:t>DEMO TIME — switch to the browser and run the 3-min flow from PITCH-DELIVERY.md. Don't read this slide. Talk over the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Speak: 'The constitutional rule: abilities never touch the canvas, the SDK is the only thing that issues orders. That sounds like a small thing. It's the whole bet. It's why Phase 2 is a swap.'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Speak: 'Hyperliquid + Phantom flipped the wallet UX. Memecoin season trained 8 million wallets. The infra is here. The skill on-ramp is missing. Nobody owns it.'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Speak: 'We're pre-launch. What we have is shipping discipline. 230+ atomic version commits. A single-file prototype that's been parse-validated and playtested at every step.'</a:t>
            </a:r>
          </a:p>
          <a:p>
            <a:r>
              <a:t>If asked about users: 'Zero today. We ship publicly with the next push and we have a 30-day target board.'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Speak: 'Four wedges. Gamified — TV and Phantom aren't. Skill-building — Bitget Quest isn't. On-chain native — TV Paper isn't. SDK-portable — every other gamified product locks to one venue. We're a runtime artifact, not a SaaS. We can drop on any chart.'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Speak: 'Phase 0 shipped. Phase 1 — drop the ChartRunner UI on top of Dexscreener, TradingView, Birdeye. Anywhere with a candle. Phase 2 — wallet-connect and live Solana trades. We're not asking you to imagine the architecture. It's already there.'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Speak: 'Three revenue lanes. Marketplace fees on creator content. Game-shop $RUN sinks. White-label license for chart vendors. The runtime artifact lets us serve all three from one codebase.'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Speak: 'Two things. One — a devnet integration partner. Hyperliquid, Drift, or Phoenix would be the strongest fits. Two — a six-month seed to staff Phase 1 and ship Phase 2 live.'</a:t>
            </a:r>
          </a:p>
          <a:p>
            <a:r>
              <a:t>State this flat. Don't apologize. Don't hedge. Then sit with the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Speak: 'The next 10 million traders won't learn from PDFs. They'll learn from a game. We're the on-ramp.'</a:t>
            </a:r>
          </a:p>
          <a:p>
            <a:r>
              <a:t>Pause. Then: 'Questions?' </a:t>
            </a:r>
          </a:p>
          <a:p>
            <a:r>
              <a:t>Don't fill the silence. Wait for the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94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0" b="1" i="0">
                <a:solidFill>
                  <a:srgbClr val="FFFFFF"/>
                </a:solidFill>
                <a:latin typeface="Arial Black"/>
              </a:rPr>
              <a:t>ChartRunner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0" i="1">
                <a:solidFill>
                  <a:srgbClr val="14F195"/>
                </a:solidFill>
                <a:latin typeface="Calibri"/>
              </a:rPr>
              <a:t>Trade the chart. Survive the upside-down.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9AA0A6"/>
                </a:solidFill>
                <a:latin typeface="Calibri"/>
              </a:rPr>
              <a:t>Gamified trading SDK · Solana devnet · single-file MVP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760720"/>
            <a:ext cx="10515600" cy="45720"/>
          </a:xfrm>
          <a:prstGeom prst="rect">
            <a:avLst/>
          </a:prstGeom>
          <a:solidFill>
            <a:srgbClr val="2A2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4F195"/>
                </a:solidFill>
                <a:latin typeface="Calibri"/>
              </a:rPr>
              <a:t>Phase 0 — MVP shipped</a:t>
            </a:r>
            <a:r>
              <a:rPr sz="1200" b="0" i="0">
                <a:solidFill>
                  <a:srgbClr val="9AA0A6"/>
                </a:solidFill>
                <a:latin typeface="Calibri"/>
              </a:rPr>
              <a:t>  ·  v0.9 submission package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58521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9AA0A6"/>
                </a:solidFill>
                <a:latin typeface="Consolas"/>
              </a:rPr>
              <a:t>ssjjul3.github.io/chartrunner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9AA0A6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 Black"/>
              </a:rPr>
              <a:t>Trading apps are a hospital monitor.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468880"/>
            <a:ext cx="5029200" cy="3291840"/>
          </a:xfrm>
          <a:prstGeom prst="rect">
            <a:avLst/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697480"/>
            <a:ext cx="4572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0" b="1" i="0">
                <a:solidFill>
                  <a:srgbClr val="FF4D6D"/>
                </a:solidFill>
                <a:latin typeface="Arial Black"/>
              </a:rPr>
              <a:t>74%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of new retail traders quit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9377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within their first 90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4406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AA0A6"/>
                </a:solidFill>
                <a:latin typeface="Calibri"/>
              </a:rPr>
              <a:t>Source: Brokerchooser, 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4F195"/>
                </a:solidFill>
                <a:latin typeface="Calibri"/>
              </a:rPr>
              <a:t>Why they quit</a:t>
            </a:r>
          </a:p>
        </p:txBody>
      </p:sp>
      <p:sp>
        <p:nvSpPr>
          <p:cNvPr id="10" name="Oval 9"/>
          <p:cNvSpPr/>
          <p:nvPr/>
        </p:nvSpPr>
        <p:spPr>
          <a:xfrm>
            <a:off x="6272784" y="3081528"/>
            <a:ext cx="164592" cy="164592"/>
          </a:xfrm>
          <a:prstGeom prst="ellipse">
            <a:avLst/>
          </a:prstGeom>
          <a:solidFill>
            <a:srgbClr val="14F1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30175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Hospital-monitor 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383279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A0A6"/>
                </a:solidFill>
                <a:latin typeface="Calibri"/>
              </a:rPr>
              <a:t>12 panels, 100 numbers, an order ticket asking for real money before they understand what any of it means.</a:t>
            </a:r>
          </a:p>
        </p:txBody>
      </p:sp>
      <p:sp>
        <p:nvSpPr>
          <p:cNvPr id="13" name="Oval 12"/>
          <p:cNvSpPr/>
          <p:nvPr/>
        </p:nvSpPr>
        <p:spPr>
          <a:xfrm>
            <a:off x="6272784" y="4087368"/>
            <a:ext cx="164592" cy="164592"/>
          </a:xfrm>
          <a:prstGeom prst="ellipse">
            <a:avLst/>
          </a:prstGeom>
          <a:solidFill>
            <a:srgbClr val="14F1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40233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No skill loop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38912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A0A6"/>
                </a:solidFill>
                <a:latin typeface="Calibri"/>
              </a:rPr>
              <a:t>YouTube and PDFs are passive. Paper trading is fake money on the same scary screen. Nothing transfers.</a:t>
            </a:r>
          </a:p>
        </p:txBody>
      </p:sp>
      <p:sp>
        <p:nvSpPr>
          <p:cNvPr id="16" name="Oval 15"/>
          <p:cNvSpPr/>
          <p:nvPr/>
        </p:nvSpPr>
        <p:spPr>
          <a:xfrm>
            <a:off x="6272784" y="5093208"/>
            <a:ext cx="164592" cy="164592"/>
          </a:xfrm>
          <a:prstGeom prst="ellipse">
            <a:avLst/>
          </a:prstGeom>
          <a:solidFill>
            <a:srgbClr val="14F1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50292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On-ramp is a cliff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539496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A0A6"/>
                </a:solidFill>
                <a:latin typeface="Calibri"/>
              </a:rPr>
              <a:t>Skill required to start ≈ skill required to be profitable. Beginners can't get past minute one.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ChartRunner</a:t>
            </a:r>
            <a:r>
              <a:rPr sz="1100" b="0" i="0">
                <a:solidFill>
                  <a:srgbClr val="9AA0A6"/>
                </a:solidFill>
                <a:latin typeface="Calibri"/>
              </a:rPr>
              <a:t>  ·  Phase 0 MVP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AA0A6"/>
                </a:solidFill>
                <a:latin typeface="Calibri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9AA0A6"/>
                </a:solidFill>
                <a:latin typeface="Calibr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 Black"/>
              </a:rPr>
              <a:t>Turn the cliff into a game.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560320"/>
            <a:ext cx="3657600" cy="3291840"/>
          </a:xfrm>
          <a:prstGeom prst="rect">
            <a:avLst/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560320"/>
            <a:ext cx="3657600" cy="137160"/>
          </a:xfrm>
          <a:prstGeom prst="rect">
            <a:avLst/>
          </a:prstGeom>
          <a:solidFill>
            <a:srgbClr val="994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97180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9945FF"/>
                </a:solidFill>
                <a:latin typeface="Arial Black"/>
              </a:rPr>
              <a:t>Game 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611880"/>
            <a:ext cx="292608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Real Binance candles. Three avatar physics modes. Walk the chart, fall through the close, fight bears in the upside-down. Every input has visible feedback.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44568" y="2560320"/>
            <a:ext cx="3657600" cy="3291840"/>
          </a:xfrm>
          <a:prstGeom prst="rect">
            <a:avLst/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44568" y="2560320"/>
            <a:ext cx="3657600" cy="137160"/>
          </a:xfrm>
          <a:prstGeom prst="rect">
            <a:avLst/>
          </a:prstGeom>
          <a:solidFill>
            <a:srgbClr val="14F1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10328" y="297180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4F195"/>
                </a:solidFill>
                <a:latin typeface="Arial Black"/>
              </a:rPr>
              <a:t>Real primitives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0328" y="3611880"/>
            <a:ext cx="292608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Bracket. Ladder. OCO. Hedge. Radar. Rescue. Six trading primitives wired as in-game abilities — not toy versions.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49056" y="2560320"/>
            <a:ext cx="3657600" cy="3291840"/>
          </a:xfrm>
          <a:prstGeom prst="rect">
            <a:avLst/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49056" y="2560320"/>
            <a:ext cx="3657600" cy="137160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4816" y="297180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0B90B"/>
                </a:solidFill>
                <a:latin typeface="Arial Black"/>
              </a:rPr>
              <a:t>SDK is the bridge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14816" y="3611880"/>
            <a:ext cx="292608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Every primitive routes through ChartRunnerSDK. The same SDK we plug into Solana devnet for live trades. What you practice is what graduates.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080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9AA0A6"/>
                </a:solidFill>
                <a:latin typeface="Calibri"/>
              </a:rPr>
              <a:t>The constitutional rule: </a:t>
            </a:r>
            <a:r>
              <a:rPr sz="1200" b="1" i="0">
                <a:solidFill>
                  <a:srgbClr val="FFFFFF"/>
                </a:solidFill>
                <a:latin typeface="Calibri"/>
              </a:rPr>
              <a:t>abilities never touch the canvas. The SDK is the only thing that issues orders.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ChartRunner</a:t>
            </a:r>
            <a:r>
              <a:rPr sz="1100" b="0" i="0">
                <a:solidFill>
                  <a:srgbClr val="9AA0A6"/>
                </a:solidFill>
                <a:latin typeface="Calibri"/>
              </a:rPr>
              <a:t>  ·  Phase 0 MVP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AA0A6"/>
                </a:solidFill>
                <a:latin typeface="Calibri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9AA0A6"/>
                </a:solidFill>
                <a:latin typeface="Calibri"/>
              </a:rPr>
              <a:t>What's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Arial Black"/>
              </a:rPr>
              <a:t>Phase 0 MVP — playable now.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377440"/>
            <a:ext cx="5212080" cy="3840480"/>
          </a:xfrm>
          <a:prstGeom prst="rect">
            <a:avLst/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60604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4F195"/>
                </a:solidFill>
                <a:latin typeface="Calibri"/>
              </a:rPr>
              <a:t>Single file. Zero install.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10896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onsolas"/>
              </a:rPr>
              <a:t>ChartRunner_Prototype.html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5661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9AA0A6"/>
                </a:solidFill>
                <a:latin typeface="Consolas"/>
              </a:rPr>
              <a:t>open it in your browser. that's the install.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4069080"/>
            <a:ext cx="4754880" cy="36576"/>
          </a:xfrm>
          <a:prstGeom prst="rect">
            <a:avLst/>
          </a:prstGeom>
          <a:solidFill>
            <a:srgbClr val="2A2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976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 Black"/>
              </a:rPr>
              <a:t>~14,700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7548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AA0A6"/>
                </a:solidFill>
                <a:latin typeface="Calibri"/>
              </a:rPr>
              <a:t>lines of vanilla JS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42976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 Black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7548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AA0A6"/>
                </a:solidFill>
                <a:latin typeface="Calibri"/>
              </a:rPr>
              <a:t>external dependencies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1663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 Black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623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AA0A6"/>
                </a:solidFill>
                <a:latin typeface="Calibri"/>
              </a:rPr>
              <a:t>build steps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51663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 Black"/>
              </a:rPr>
              <a:t>230+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5623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AA0A6"/>
                </a:solidFill>
                <a:latin typeface="Calibri"/>
              </a:rPr>
              <a:t>atomic version commits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37744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4F195"/>
                </a:solidFill>
                <a:latin typeface="Calibri"/>
              </a:rPr>
              <a:t>What ships in Phase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92608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F195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29260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Three avatar physics</a:t>
            </a:r>
            <a:r>
              <a:rPr sz="1100" b="0" i="0">
                <a:solidFill>
                  <a:srgbClr val="9AA0A6"/>
                </a:solidFill>
                <a:latin typeface="Calibri"/>
              </a:rPr>
              <a:t>  Runner · Flight · Upside-down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29184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F195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392" y="329184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Six trading primitives</a:t>
            </a:r>
            <a:r>
              <a:rPr sz="1100" b="0" i="0">
                <a:solidFill>
                  <a:srgbClr val="9AA0A6"/>
                </a:solidFill>
                <a:latin typeface="Calibri"/>
              </a:rPr>
              <a:t>  Bracket · Ladder · OCO · Hedge · Radar · Rescue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F195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65392" y="365760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Two-anchor laser placement</a:t>
            </a:r>
            <a:r>
              <a:rPr sz="1100" b="0" i="0">
                <a:solidFill>
                  <a:srgbClr val="9AA0A6"/>
                </a:solidFill>
                <a:latin typeface="Calibri"/>
              </a:rPr>
              <a:t>  Click two candles to land any tool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02336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F195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65392" y="402336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Workbench Pine builder</a:t>
            </a:r>
            <a:r>
              <a:rPr sz="1100" b="0" i="0">
                <a:solidFill>
                  <a:srgbClr val="9AA0A6"/>
                </a:solidFill>
                <a:latin typeface="Calibri"/>
              </a:rPr>
              <a:t>  Bots · Strategies · Indicators · Backtest · Apps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38912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F195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65392" y="438912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Multi-tracker Terminal</a:t>
            </a:r>
            <a:r>
              <a:rPr sz="1100" b="0" i="0">
                <a:solidFill>
                  <a:srgbClr val="9AA0A6"/>
                </a:solidFill>
                <a:latin typeface="Calibri"/>
              </a:rPr>
              <a:t>  Darkflow · Hyper · Solana · CEX · Strategies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475488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F195"/>
                </a:solidFill>
                <a:latin typeface="Calibr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65392" y="47548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Drag-to-desktop widgets</a:t>
            </a:r>
            <a:r>
              <a:rPr sz="1100" b="0" i="0">
                <a:solidFill>
                  <a:srgbClr val="9AA0A6"/>
                </a:solidFill>
                <a:latin typeface="Calibri"/>
              </a:rPr>
              <a:t>  Map / chat / pane → live preview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512064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F195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65392" y="512064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Phone OS overlay</a:t>
            </a:r>
            <a:r>
              <a:rPr sz="1100" b="0" i="0">
                <a:solidFill>
                  <a:srgbClr val="9AA0A6"/>
                </a:solidFill>
                <a:latin typeface="Calibri"/>
              </a:rPr>
              <a:t>  Full-screen mobile mirror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548640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F195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5392" y="548640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Save / load maps</a:t>
            </a:r>
            <a:r>
              <a:rPr sz="1100" b="0" i="0">
                <a:solidFill>
                  <a:srgbClr val="9AA0A6"/>
                </a:solidFill>
                <a:latin typeface="Calibri"/>
              </a:rPr>
              <a:t>  30-slot setup recall with thumbnails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ChartRunner</a:t>
            </a:r>
            <a:r>
              <a:rPr sz="1100" b="0" i="0">
                <a:solidFill>
                  <a:srgbClr val="9AA0A6"/>
                </a:solidFill>
                <a:latin typeface="Calibri"/>
              </a:rPr>
              <a:t>  ·  Phase 0 MVP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AA0A6"/>
                </a:solidFill>
                <a:latin typeface="Calibri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9AA0A6"/>
                </a:solidFill>
                <a:latin typeface="Calibri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 Black"/>
              </a:rPr>
              <a:t>Abilities never touch the canvas.</a:t>
            </a:r>
          </a:p>
        </p:txBody>
      </p:sp>
      <p:sp>
        <p:nvSpPr>
          <p:cNvPr id="4" name="Rectangle 3"/>
          <p:cNvSpPr/>
          <p:nvPr/>
        </p:nvSpPr>
        <p:spPr>
          <a:xfrm>
            <a:off x="2560320" y="2377440"/>
            <a:ext cx="7040880" cy="1280160"/>
          </a:xfrm>
          <a:prstGeom prst="rect">
            <a:avLst/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60320" y="2377440"/>
            <a:ext cx="164592" cy="1280160"/>
          </a:xfrm>
          <a:prstGeom prst="rect">
            <a:avLst/>
          </a:prstGeom>
          <a:solidFill>
            <a:srgbClr val="994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80360" y="2514600"/>
            <a:ext cx="6583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9945FF"/>
                </a:solidFill>
                <a:latin typeface="Arial Black"/>
              </a:rPr>
              <a:t>ChartRunner 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2926080"/>
            <a:ext cx="6583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0A6"/>
                </a:solidFill>
                <a:latin typeface="Calibri"/>
              </a:rPr>
              <a:t>canvas · player physics · monsters · particles · tools (visual only)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0" y="3794760"/>
            <a:ext cx="7040880" cy="1280160"/>
          </a:xfrm>
          <a:prstGeom prst="rect">
            <a:avLst/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0" y="3794760"/>
            <a:ext cx="164592" cy="1280160"/>
          </a:xfrm>
          <a:prstGeom prst="rect">
            <a:avLst/>
          </a:prstGeom>
          <a:solidFill>
            <a:srgbClr val="14F1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3931920"/>
            <a:ext cx="6583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4F195"/>
                </a:solidFill>
                <a:latin typeface="Arial Black"/>
              </a:rPr>
              <a:t>ChartRunnerSDK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4343400"/>
            <a:ext cx="6583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0A6"/>
                </a:solidFill>
                <a:latin typeface="Calibri"/>
              </a:rPr>
              <a:t>placeBracket · placeLadder · placeOCO · openHedge · radarScan · rescue · event bus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0320" y="5212080"/>
            <a:ext cx="7040880" cy="1280160"/>
          </a:xfrm>
          <a:prstGeom prst="rect">
            <a:avLst/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60320" y="5212080"/>
            <a:ext cx="164592" cy="1280160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5349240"/>
            <a:ext cx="6583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0B90B"/>
                </a:solidFill>
                <a:latin typeface="Arial Black"/>
              </a:rPr>
              <a:t>Adapter (Phase 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5760720"/>
            <a:ext cx="6583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0A6"/>
                </a:solidFill>
                <a:latin typeface="Calibri"/>
              </a:rPr>
              <a:t>Solana devnet · paper-mode mirror · Phantom-Connect lifecycle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89320" y="3657600"/>
            <a:ext cx="164592" cy="137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89320" y="5074920"/>
            <a:ext cx="164592" cy="137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60604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9AA0A6"/>
                </a:solidFill>
                <a:latin typeface="Calibri"/>
              </a:rPr>
              <a:t>Game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0233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9AA0A6"/>
                </a:solidFill>
                <a:latin typeface="Calibri"/>
              </a:rPr>
              <a:t>Contract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4406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9AA0A6"/>
                </a:solidFill>
                <a:latin typeface="Calibri"/>
              </a:rPr>
              <a:t>Venue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2743200"/>
            <a:ext cx="219456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Why this matters
</a:t>
            </a:r>
            <a:r>
              <a:rPr sz="1100" b="0" i="0">
                <a:solidFill>
                  <a:srgbClr val="9AA0A6"/>
                </a:solidFill>
                <a:latin typeface="Calibri"/>
              </a:rPr>
              <a:t>Phase 2 is a swap, not a rewrite. Same SDK call, new adapter. </a:t>
            </a:r>
            <a:r>
              <a:rPr sz="1100" b="1" i="0">
                <a:solidFill>
                  <a:srgbClr val="14F195"/>
                </a:solidFill>
                <a:latin typeface="Calibri"/>
              </a:rPr>
              <a:t>Players take their muscle memory with them.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ChartRunner</a:t>
            </a:r>
            <a:r>
              <a:rPr sz="1100" b="0" i="0">
                <a:solidFill>
                  <a:srgbClr val="9AA0A6"/>
                </a:solidFill>
                <a:latin typeface="Calibri"/>
              </a:rPr>
              <a:t>  ·  Phase 0 MVP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AA0A6"/>
                </a:solidFill>
                <a:latin typeface="Calibri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9AA0A6"/>
                </a:solidFill>
                <a:latin typeface="Calibri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Arial Black"/>
              </a:rPr>
              <a:t>Two structural shifts.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468880"/>
            <a:ext cx="10881360" cy="1691640"/>
          </a:xfrm>
          <a:prstGeom prst="rect">
            <a:avLst/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697480"/>
            <a:ext cx="12801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9945FF"/>
                </a:solidFill>
                <a:latin typeface="Arial Black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74320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 Black"/>
              </a:rPr>
              <a:t>Wallet UX flipped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3337560"/>
            <a:ext cx="91440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0A6"/>
                </a:solidFill>
                <a:latin typeface="Calibri"/>
              </a:rPr>
              <a:t>Phantom + Hyperliquid lowered the on-chain trading on-ramp from days to minutes. A 22-year-old can fund a wallet and place a perp in under 4 minutes. The infrastructure barrier is gone.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343400"/>
            <a:ext cx="10881360" cy="1691640"/>
          </a:xfrm>
          <a:prstGeom prst="rect">
            <a:avLst/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572000"/>
            <a:ext cx="12801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14F195"/>
                </a:solidFill>
                <a:latin typeface="Arial Black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461772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 Black"/>
              </a:rPr>
              <a:t>Memecoin season trained 8M+ wallets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5212080"/>
            <a:ext cx="91440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0A6"/>
                </a:solidFill>
                <a:latin typeface="Calibri"/>
              </a:rPr>
              <a:t>Pump.fun, Bonk, and the post-2024 launch culture taught a generation to swap on-chain. They have wallets. They have liquidity. They don't have a way to learn anything beyond "press buy."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9AA0A6"/>
                </a:solidFill>
                <a:latin typeface="Calibri"/>
              </a:rPr>
              <a:t>The infra is here. The skill on-ramp is missing. </a:t>
            </a:r>
            <a:r>
              <a:rPr sz="1300" b="1" i="0">
                <a:solidFill>
                  <a:srgbClr val="14F195"/>
                </a:solidFill>
                <a:latin typeface="Calibri"/>
              </a:rPr>
              <a:t>Nobody owns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ChartRunner</a:t>
            </a:r>
            <a:r>
              <a:rPr sz="1100" b="0" i="0">
                <a:solidFill>
                  <a:srgbClr val="9AA0A6"/>
                </a:solidFill>
                <a:latin typeface="Calibri"/>
              </a:rPr>
              <a:t>  ·  Phase 0 MVP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AA0A6"/>
                </a:solidFill>
                <a:latin typeface="Calibri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9AA0A6"/>
                </a:solidFill>
                <a:latin typeface="Calibri"/>
              </a:rPr>
              <a:t>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Arial Black"/>
              </a:rPr>
              <a:t>Shipping discipline you can audit.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468880"/>
            <a:ext cx="4572000" cy="3291840"/>
          </a:xfrm>
          <a:prstGeom prst="rect">
            <a:avLst/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788920"/>
            <a:ext cx="4114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0" b="1" i="0">
                <a:solidFill>
                  <a:srgbClr val="14F195"/>
                </a:solidFill>
                <a:latin typeface="Arial Black"/>
              </a:rPr>
              <a:t>230+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43484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atomic version commits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8920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9AA0A6"/>
                </a:solidFill>
                <a:latin typeface="Calibri"/>
              </a:rPr>
              <a:t>each parse-validated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2120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9AA0A6"/>
                </a:solidFill>
                <a:latin typeface="Calibri"/>
              </a:rPr>
              <a:t>each with reasoning in 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24688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4F195"/>
                </a:solidFill>
                <a:latin typeface="Calibri"/>
              </a:rPr>
              <a:t>Milestones already met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29718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F195"/>
                </a:solidFill>
                <a:latin typeface="Calibri"/>
              </a:rPr>
              <a:t>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971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Phase 0 MVP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461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AA0A6"/>
                </a:solidFill>
                <a:latin typeface="Calibri"/>
              </a:rPr>
              <a:t>Single-file playable, 9 OS apps, 5 trackers, 6 SDK primitives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34747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F195"/>
                </a:solidFill>
                <a:latin typeface="Calibri"/>
              </a:rPr>
              <a:t>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34747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Phase 1 SDK skeleton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374903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AA0A6"/>
                </a:solidFill>
                <a:latin typeface="Calibri"/>
              </a:rPr>
              <a:t>ES modules, RiskManager parity tests, demo page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397763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F195"/>
                </a:solidFill>
                <a:latin typeface="Calibri"/>
              </a:rPr>
              <a:t>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97763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M5 Solana paper-mode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425195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AA0A6"/>
                </a:solidFill>
                <a:latin typeface="Calibri"/>
              </a:rPr>
              <a:t>Ed25519 wallet + session + approver + parity vectors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0" y="44805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F195"/>
                </a:solidFill>
                <a:latin typeface="Calibri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448055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Constitutional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475487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AA0A6"/>
                </a:solidFill>
                <a:latin typeface="Calibri"/>
              </a:rPr>
              <a:t>Enforced across 230+ commits — SDK never bypassed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498347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F195"/>
                </a:solidFill>
                <a:latin typeface="Calibr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98347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Public demo URL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525779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AA0A6"/>
                </a:solidFill>
                <a:latin typeface="Calibri"/>
              </a:rPr>
              <a:t>GitHub Pages folder ready (chartrunner-prototype/)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720" y="548639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F195"/>
                </a:solidFill>
                <a:latin typeface="Calibri"/>
              </a:rPr>
              <a:t>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548639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Pitch package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576071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AA0A6"/>
                </a:solidFill>
                <a:latin typeface="Calibri"/>
              </a:rPr>
              <a:t>Deck + 9 docs + video script + X launch kit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ChartRunner</a:t>
            </a:r>
            <a:r>
              <a:rPr sz="1100" b="0" i="0">
                <a:solidFill>
                  <a:srgbClr val="9AA0A6"/>
                </a:solidFill>
                <a:latin typeface="Calibri"/>
              </a:rPr>
              <a:t>  ·  Phase 0 MVP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AA0A6"/>
                </a:solidFill>
                <a:latin typeface="Calibri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9AA0A6"/>
                </a:solidFill>
                <a:latin typeface="Calibri"/>
              </a:rPr>
              <a:t>Competitive 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Arial Black"/>
              </a:rPr>
              <a:t>Four wedges nobody else has.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468880"/>
            <a:ext cx="5349240" cy="1828800"/>
          </a:xfrm>
          <a:prstGeom prst="rect">
            <a:avLst/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468880"/>
            <a:ext cx="5349240" cy="109728"/>
          </a:xfrm>
          <a:prstGeom prst="rect">
            <a:avLst/>
          </a:prstGeom>
          <a:solidFill>
            <a:srgbClr val="994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8892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9945FF"/>
                </a:solidFill>
                <a:latin typeface="Arial Black"/>
              </a:rPr>
              <a:t>Gamified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38328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TradingView and Phantom aren't.
Learn-by-doing, minute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2468880"/>
            <a:ext cx="5349240" cy="1828800"/>
          </a:xfrm>
          <a:prstGeom prst="rect">
            <a:avLst/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2468880"/>
            <a:ext cx="5349240" cy="109728"/>
          </a:xfrm>
          <a:prstGeom prst="rect">
            <a:avLst/>
          </a:prstGeom>
          <a:solidFill>
            <a:srgbClr val="14F1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78892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4F195"/>
                </a:solidFill>
                <a:latin typeface="Arial Black"/>
              </a:rPr>
              <a:t>Skill-building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338328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Bitget Quest and Coinbase Learn aren't.
Reps build muscle memory, not trivia.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480560"/>
            <a:ext cx="5349240" cy="1828800"/>
          </a:xfrm>
          <a:prstGeom prst="rect">
            <a:avLst/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480560"/>
            <a:ext cx="5349240" cy="109728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80060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0B90B"/>
                </a:solidFill>
                <a:latin typeface="Arial Black"/>
              </a:rPr>
              <a:t>On-chain native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39496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TradingView Paper isn't.
Phase 2 routes through Solana devnet.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4480560"/>
            <a:ext cx="5349240" cy="1828800"/>
          </a:xfrm>
          <a:prstGeom prst="rect">
            <a:avLst/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4480560"/>
            <a:ext cx="5349240" cy="109728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480060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4D6D"/>
                </a:solidFill>
                <a:latin typeface="Arial Black"/>
              </a:rPr>
              <a:t>SDK-portable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539496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Every gamified competitor locks the player to one venue.
We drop on any chart.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126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0A6"/>
                </a:solidFill>
                <a:latin typeface="Calibri"/>
              </a:rPr>
              <a:t>We are a runtime artifact, not a SaaS. </a:t>
            </a:r>
            <a:r>
              <a:rPr sz="1200" b="1" i="0">
                <a:solidFill>
                  <a:srgbClr val="14F195"/>
                </a:solidFill>
                <a:latin typeface="Calibri"/>
              </a:rPr>
              <a:t>Distribution asymmetry.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AA0A6"/>
                </a:solidFill>
                <a:latin typeface="Calibri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9AA0A6"/>
                </a:solidFill>
                <a:latin typeface="Calibr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 Black"/>
              </a:rPr>
              <a:t>From single-file demo to live Solana trades.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286000"/>
            <a:ext cx="3657600" cy="3657600"/>
          </a:xfrm>
          <a:prstGeom prst="rect">
            <a:avLst/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286000"/>
            <a:ext cx="3657600" cy="365760"/>
          </a:xfrm>
          <a:prstGeom prst="rect">
            <a:avLst/>
          </a:prstGeom>
          <a:solidFill>
            <a:srgbClr val="14F1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D0D14"/>
                </a:solidFill>
                <a:latin typeface="Arial Black"/>
              </a:rPr>
              <a:t>Phase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4F195"/>
                </a:solidFill>
                <a:latin typeface="Calibri"/>
              </a:rPr>
              <a:t>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31089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Playable single-file MVP
· Real Binance candles
· 6 SDK primitives
· 5 tracker views
· Workbench Pine builder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2286000"/>
            <a:ext cx="3657600" cy="3657600"/>
          </a:xfrm>
          <a:prstGeom prst="rect">
            <a:avLst/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60" y="2286000"/>
            <a:ext cx="3657600" cy="365760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233172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D0D14"/>
                </a:solidFill>
                <a:latin typeface="Arial Black"/>
              </a:rPr>
              <a:t>Phase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7889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0B90B"/>
                </a:solidFill>
                <a:latin typeface="Calibri"/>
              </a:rPr>
              <a:t>ARCHITECTURE DONE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46120"/>
            <a:ext cx="31089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ChartHost adapter layer
· Drop UI on Dexscreener
· Drop on TradingView
· Drop on Birdeye
· npm @chartrunner/sdk@0.1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2286000"/>
            <a:ext cx="3657600" cy="3657600"/>
          </a:xfrm>
          <a:prstGeom prst="rect">
            <a:avLst/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2286000"/>
            <a:ext cx="3657600" cy="365760"/>
          </a:xfrm>
          <a:prstGeom prst="rect">
            <a:avLst/>
          </a:prstGeom>
          <a:solidFill>
            <a:srgbClr val="994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0" y="233172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D0D14"/>
                </a:solidFill>
                <a:latin typeface="Arial Black"/>
              </a:rPr>
              <a:t>Phase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27889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945FF"/>
                </a:solidFill>
                <a:latin typeface="Calibri"/>
              </a:rPr>
              <a:t>PLANNED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3246120"/>
            <a:ext cx="31089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Live Solana devnet
· Phantom-Connect
· Real on-chain fills
· P2P creator economy
· Multi-venue adapters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4F195"/>
                </a:solidFill>
                <a:latin typeface="Calibri"/>
              </a:rPr>
              <a:t>Now</a:t>
            </a:r>
            <a:r>
              <a:rPr sz="1200" b="0" i="0">
                <a:solidFill>
                  <a:srgbClr val="9AA0A6"/>
                </a:solidFill>
                <a:latin typeface="Calibri"/>
              </a:rPr>
              <a:t>  →  90 days  →  </a:t>
            </a:r>
            <a:r>
              <a:rPr sz="1200" b="1" i="0">
                <a:solidFill>
                  <a:srgbClr val="9945FF"/>
                </a:solidFill>
                <a:latin typeface="Calibri"/>
              </a:rPr>
              <a:t>180 days</a:t>
            </a:r>
            <a:r>
              <a:rPr sz="1200" b="0" i="0">
                <a:solidFill>
                  <a:srgbClr val="9AA0A6"/>
                </a:solidFill>
                <a:latin typeface="Calibri"/>
              </a:rPr>
              <a:t>  →  Phase 2 mainnet target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ChartRunner</a:t>
            </a:r>
            <a:r>
              <a:rPr sz="1100" b="0" i="0">
                <a:solidFill>
                  <a:srgbClr val="9AA0A6"/>
                </a:solidFill>
                <a:latin typeface="Calibri"/>
              </a:rPr>
              <a:t>  ·  Phase 0 MVP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AA0A6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9AA0A6"/>
                </a:solidFill>
                <a:latin typeface="Calibri"/>
              </a:rPr>
              <a:t>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 Black"/>
              </a:rPr>
              <a:t>Three revenue lanes, one runtime.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468880"/>
            <a:ext cx="10881360" cy="1188720"/>
          </a:xfrm>
          <a:prstGeom prst="rect">
            <a:avLst/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63347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4F195"/>
                </a:solidFill>
                <a:latin typeface="Arial Black"/>
              </a:rPr>
              <a:t>P2P creator marketplace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63240"/>
            <a:ext cx="6858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5% fee on every Workbench-built bot, strategy, and map sold for $SOL.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306324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9AA0A6"/>
                </a:solidFill>
                <a:latin typeface="Calibri"/>
              </a:rPr>
              <a:t>Creator-economy lock-in. TradingView can't match without breaking SaaS.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1188720"/>
          </a:xfrm>
          <a:prstGeom prst="rect">
            <a:avLst/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13631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4F195"/>
                </a:solidFill>
                <a:latin typeface="Arial Black"/>
              </a:rPr>
              <a:t>Game 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43400"/>
            <a:ext cx="6858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Vehicles, skins, themes priced in $RUN earned in-run. Free cosmetic loop with paid premium tier.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434340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9AA0A6"/>
                </a:solidFill>
                <a:latin typeface="Calibri"/>
              </a:rPr>
              <a:t>F2P-style monetization, crypto-native settlement.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029200"/>
            <a:ext cx="10881360" cy="1188720"/>
          </a:xfrm>
          <a:prstGeom prst="rect">
            <a:avLst/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1937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4F195"/>
                </a:solidFill>
                <a:latin typeface="Arial Black"/>
              </a:rPr>
              <a:t>White-label license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623560"/>
            <a:ext cx="6858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Per-venue annual license for chart vendors and exchanges that want a gamified onboarding tab.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562356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9AA0A6"/>
                </a:solidFill>
                <a:latin typeface="Calibri"/>
              </a:rPr>
              <a:t>Phantom · Drift · Hyperliquid · Birdeye are all candidate partners.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ChartRunner</a:t>
            </a:r>
            <a:r>
              <a:rPr sz="1100" b="0" i="0">
                <a:solidFill>
                  <a:srgbClr val="9AA0A6"/>
                </a:solidFill>
                <a:latin typeface="Calibri"/>
              </a:rPr>
              <a:t>  ·  Phase 0 MVP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AA0A6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994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42062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 Black"/>
              </a:rPr>
              <a:t>Two open invites.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06240"/>
            <a:ext cx="42062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Phase 0 ships now.
Phase 1 in 90 days with a partner.
Phase 2 in 180 with seed.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80" y="1188720"/>
            <a:ext cx="6492240" cy="2286000"/>
          </a:xfrm>
          <a:prstGeom prst="rect">
            <a:avLst/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77840" y="1463040"/>
            <a:ext cx="45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14F195"/>
                </a:solidFill>
                <a:latin typeface="Arial Black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4F195"/>
                </a:solidFill>
                <a:latin typeface="Arial Black"/>
              </a:rPr>
              <a:t>Devnet integration 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210312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Hyperliquid · Drift · Phoenix — first-class fit.
We bring the on-ramp; you bring the venue.
Co-signed integration spec, 90-day Phase 1 ship target.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3657600"/>
            <a:ext cx="6492240" cy="2286000"/>
          </a:xfrm>
          <a:prstGeom prst="rect">
            <a:avLst/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0" y="3931920"/>
            <a:ext cx="45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0B90B"/>
                </a:solidFill>
                <a:latin typeface="Arial Blac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40233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0B90B"/>
                </a:solidFill>
                <a:latin typeface="Arial Black"/>
              </a:rPr>
              <a:t>Six-month seed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457200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Staffs the Phase 1 SDK extraction + Phase 2 Solana adapter.
1 Solana eng · 1 comms hire · 6 months runway.
Solana foundation grants in flight as parallel track.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ChartRunner</a:t>
            </a:r>
            <a:r>
              <a:rPr sz="1100" b="0" i="0">
                <a:solidFill>
                  <a:srgbClr val="14F195"/>
                </a:solidFill>
                <a:latin typeface="Calibri"/>
              </a:rPr>
              <a:t>  ·  Phase 0 MVP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AA0A6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F1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9AA0A6"/>
                </a:solidFill>
                <a:latin typeface="Arial Black"/>
              </a:rPr>
              <a:t>The next 10 million traders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 Black"/>
              </a:rPr>
              <a:t>won't learn from PDFs.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023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1">
                <a:solidFill>
                  <a:srgbClr val="14F195"/>
                </a:solidFill>
                <a:latin typeface="Arial Black"/>
              </a:rPr>
              <a:t>They'll learn from a game.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46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9AA0A6"/>
                </a:solidFill>
                <a:latin typeface="Calibri"/>
              </a:rPr>
              <a:t>We're the on-ramp.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577840"/>
            <a:ext cx="10881360" cy="36576"/>
          </a:xfrm>
          <a:prstGeom prst="rect">
            <a:avLst/>
          </a:prstGeom>
          <a:solidFill>
            <a:srgbClr val="2A2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7607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onsolas"/>
              </a:rPr>
              <a:t>github.com/ssjjul3/chartrunner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57607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onsolas"/>
              </a:rPr>
              <a:t>ssjjul3.github.io/chartrunner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57607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alibri"/>
              </a:rPr>
              <a:t>jsg@julianroy.com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AA0A6"/>
                </a:solidFill>
                <a:latin typeface="Calibri"/>
              </a:rPr>
              <a:t>Repo  ·  Live demo  ·  Email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AA0A6"/>
                </a:solidFill>
                <a:latin typeface="Calibr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