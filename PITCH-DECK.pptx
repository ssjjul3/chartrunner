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'ChartRunner. Fortnite meets Space Invaders meets a trading chart. Every trade is a game move.'</a:t>
            </a:r>
          </a:p>
          <a:p>
            <a:r>
              <a:t>Pause. Let it breathe. Don't read the slide aloud — talk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'Trading apps are a hospital monitor. 74% of new retail traders quit in 90 days. Not because they're stupid — because the on-ramp is a cliff.'</a:t>
            </a:r>
          </a:p>
          <a:p>
            <a:r>
              <a:t>Look at the audience. This is the universal pain. Don't soft-pedal the stat.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'We turn the cliff into a game. Every primitive — bracket, ladder, OCO — is taught as a mechanic. The hand learns where the stop goes. And here's the trick: every mechanic in the game routes through a real SDK. What you practice is what graduates.'</a:t>
            </a:r>
          </a:p>
          <a:p>
            <a:r>
              <a:t>Point at the third column. That's the unlock.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'I'm going to show you the prototype. It's one HTML file. No build, no install. Open it. Let's place a bracket.'</a:t>
            </a:r>
          </a:p>
          <a:p>
            <a:r>
              <a:t>DEMO TIME — switch to the browser and run the 3-min flow from PITCH-DELIVERY.md. Don't read this slide. Talk over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'The constitutional rule: abilities never touch the canvas, the SDK is the only thing that issues orders. That sounds like a small thing. It's the whole bet. It's why Phase 2 is a swap.'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'Hyperliquid + Phantom flipped the wallet UX. Memecoin season trained 8 million wallets. The infra is here. The skill on-ramp is missing. Nobody owns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'We're pre-launch. What we have is shipping discipline. 230+ atomic version commits. A single-file prototype that's been parse-validated and playtested at every step.'</a:t>
            </a:r>
          </a:p>
          <a:p>
            <a:r>
              <a:t>If asked about users: 'Zero today. We ship publicly with the next push and we have a 30-day target board.'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'Four wedges. Gamified — TV and Phantom aren't. Skill-building — Bitget Quest isn't. On-chain native — TV Paper isn't. SDK-portable — every other gamified product locks to one venue. We're a runtime artifact, not a SaaS. We can drop on any chart.'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'Phase 0 shipped. Phase 1 — drop the ChartRunner UI on top of Dexscreener, TradingView, Birdeye. Anywhere with a candle. Phase 2 — wallet-connect and live Solana trades. We're not asking you to imagine the architecture. It's already there.'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'Three revenue lanes. Marketplace fees on creator content. Game-shop $RUN sinks. White-label license for chart vendors. The runtime artifact lets us serve all three from one codebase.'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'Two things. One — a devnet integration partner. Hyperliquid, Drift, or Phoenix would be the strongest fits. Two — a six-month seed to staff Phase 1 and ship Phase 2 live.'</a:t>
            </a:r>
          </a:p>
          <a:p>
            <a:r>
              <a:t>State this flat. Don't apologize. Don't hedge. Then sit with the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'The next 10 million traders won't learn from PDFs. They'll learn from a game. We're the on-ramp.'</a:t>
            </a:r>
          </a:p>
          <a:p>
            <a:r>
              <a:t>Pause. Then: 'Questions?' </a:t>
            </a:r>
          </a:p>
          <a:p>
            <a:r>
              <a:t>Don't fill the silence. Wait for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Arial Black"/>
              </a:rPr>
              <a:t>ChartRunner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14F195"/>
                </a:solidFill>
                <a:latin typeface="Calibri"/>
              </a:rPr>
              <a:t>Trade the chart. Survive the upside-down.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AA0A6"/>
                </a:solidFill>
                <a:latin typeface="Calibri"/>
              </a:rPr>
              <a:t>Gamified trading SDK · Solana devnet · single-file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760720"/>
            <a:ext cx="10515600" cy="45720"/>
          </a:xfrm>
          <a:prstGeom prst="rect">
            <a:avLst/>
          </a:prstGeom>
          <a:solidFill>
            <a:srgbClr val="2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F195"/>
                </a:solidFill>
                <a:latin typeface="Calibri"/>
              </a:rPr>
              <a:t>Phase 0 — MVP shipped</a:t>
            </a:r>
            <a:r>
              <a:rPr sz="1200" b="0" i="0">
                <a:solidFill>
                  <a:srgbClr val="9AA0A6"/>
                </a:solidFill>
                <a:latin typeface="Calibri"/>
              </a:rPr>
              <a:t>  ·  v0.9 submission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852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9AA0A6"/>
                </a:solidFill>
                <a:latin typeface="Consolas"/>
              </a:rPr>
              <a:t>github.com/chartrunner-xyz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Trading apps are a hospital monitor.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029200" cy="329184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FF4D6D"/>
                </a:solidFill>
                <a:latin typeface="Arial Black"/>
              </a:rPr>
              <a:t>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of new retail traders quit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within their first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Source: Brokerchooser,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F195"/>
                </a:solidFill>
                <a:latin typeface="Calibri"/>
              </a:rPr>
              <a:t>Why they quit</a:t>
            </a:r>
          </a:p>
        </p:txBody>
      </p:sp>
      <p:sp>
        <p:nvSpPr>
          <p:cNvPr id="10" name="Oval 9"/>
          <p:cNvSpPr/>
          <p:nvPr/>
        </p:nvSpPr>
        <p:spPr>
          <a:xfrm>
            <a:off x="6272784" y="3081528"/>
            <a:ext cx="164592" cy="164592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Hospital-monitor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83279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A6"/>
                </a:solidFill>
                <a:latin typeface="Calibri"/>
              </a:rPr>
              <a:t>12 panels, 100 numbers, an order ticket asking for real money before they understand what any of it means.</a:t>
            </a:r>
          </a:p>
        </p:txBody>
      </p:sp>
      <p:sp>
        <p:nvSpPr>
          <p:cNvPr id="13" name="Oval 12"/>
          <p:cNvSpPr/>
          <p:nvPr/>
        </p:nvSpPr>
        <p:spPr>
          <a:xfrm>
            <a:off x="6272784" y="4087368"/>
            <a:ext cx="164592" cy="164592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 skill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91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A6"/>
                </a:solidFill>
                <a:latin typeface="Calibri"/>
              </a:rPr>
              <a:t>YouTube and PDFs are passive. Paper trading is fake money on the same scary screen. Nothing transfers.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72784" y="5093208"/>
            <a:ext cx="164592" cy="164592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029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On-ramp is a cliff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3949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0A6"/>
                </a:solidFill>
                <a:latin typeface="Calibri"/>
              </a:rPr>
              <a:t>Skill required to start ≈ skill required to be profitable. Beginners can't get past minute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Turn the cliff into a game.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3657600" cy="329184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3657600" cy="13716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718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9945FF"/>
                </a:solidFill>
                <a:latin typeface="Arial Black"/>
              </a:rPr>
              <a:t>Game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Real Binance candles. Three avatar physics modes. Walk the chart, fall through the close, fight bears in the upside-down. Every input has visible feedback.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560320"/>
            <a:ext cx="3657600" cy="329184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2560320"/>
            <a:ext cx="3657600" cy="13716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0328" y="29718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4F195"/>
                </a:solidFill>
                <a:latin typeface="Arial Black"/>
              </a:rPr>
              <a:t>Real primitives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361188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Bracket. Ladder. OCO. Hedge. Radar. Rescue. Six trading primitives wired as in-game abilities — not toy versions.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49056" y="2560320"/>
            <a:ext cx="3657600" cy="329184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49056" y="2560320"/>
            <a:ext cx="3657600" cy="13716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4816" y="29718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0B90B"/>
                </a:solidFill>
                <a:latin typeface="Arial Black"/>
              </a:rPr>
              <a:t>SDK is the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361188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Every primitive routes through ChartRunnerSDK. The same SDK we plug into Solana devnet for live trades. What you practice is what graduates.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AA0A6"/>
                </a:solidFill>
                <a:latin typeface="Calibri"/>
              </a:rPr>
              <a:t>The constitutional rule: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abilities never touch the canvas. The SDK is the only thing that issues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What's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 Black"/>
              </a:rPr>
              <a:t>Phase 0 MVP — playable 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5212080" cy="384048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F195"/>
                </a:solidFill>
                <a:latin typeface="Calibri"/>
              </a:rPr>
              <a:t>Single file. Zero install.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ChartRunner_Prototype.html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AA0A6"/>
                </a:solidFill>
                <a:latin typeface="Consolas"/>
              </a:rPr>
              <a:t>open it in your browser. that's the install.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069080"/>
            <a:ext cx="4754880" cy="36576"/>
          </a:xfrm>
          <a:prstGeom prst="rect">
            <a:avLst/>
          </a:prstGeom>
          <a:solidFill>
            <a:srgbClr val="2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~14,700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lines of vanilla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4297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7548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external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build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5166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 Black"/>
              </a:rPr>
              <a:t>230+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5623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atomic version commits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774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F195"/>
                </a:solidFill>
                <a:latin typeface="Calibri"/>
              </a:rPr>
              <a:t>What ships in Phase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9260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Three avatar physics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Runner · Flight · Upside-down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91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2918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Six trading primitives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Bracket · Ladder · OCO · Hedge · Radar · Rescue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657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Two-anchor laser placement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Click two candles to land any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02336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Workbench Pine builder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Bots · Strategies · Indicators · Backtest ·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3891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Multi-tracker Terminal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Darkflow · Hyper · Solana · CEX · Strategies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7548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7548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Drag-to-desktop widgets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Map / chat / pane → live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206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1206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Phone OS overlay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Full-screen mobile mirror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4864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4864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Save / load maps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30-slot setup recall with thumbnails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Abilities never touch the canvas.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2377440"/>
            <a:ext cx="7040880" cy="12801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2377440"/>
            <a:ext cx="164592" cy="128016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25146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945FF"/>
                </a:solidFill>
                <a:latin typeface="Arial Black"/>
              </a:rPr>
              <a:t>ChartRunner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92608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A6"/>
                </a:solidFill>
                <a:latin typeface="Calibri"/>
              </a:rPr>
              <a:t>canvas · player physics · monsters · particles · tools (visual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794760"/>
            <a:ext cx="7040880" cy="12801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3794760"/>
            <a:ext cx="164592" cy="128016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39319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F195"/>
                </a:solidFill>
                <a:latin typeface="Arial Black"/>
              </a:rPr>
              <a:t>ChartRunnerSDK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34340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A6"/>
                </a:solidFill>
                <a:latin typeface="Calibri"/>
              </a:rPr>
              <a:t>placeBracket · placeLadder · placeOCO · openHedge · radarScan · rescue · event bus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5212080"/>
            <a:ext cx="7040880" cy="128016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5212080"/>
            <a:ext cx="164592" cy="128016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53492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B90B"/>
                </a:solidFill>
                <a:latin typeface="Arial Black"/>
              </a:rPr>
              <a:t>Adapter (Phase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576072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A6"/>
                </a:solidFill>
                <a:latin typeface="Calibri"/>
              </a:rPr>
              <a:t>Solana devnet · paper-mode mirror · Phantom-Connect lifecycle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657600"/>
            <a:ext cx="164592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5074920"/>
            <a:ext cx="164592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0A6"/>
                </a:solidFill>
                <a:latin typeface="Calibri"/>
              </a:rPr>
              <a:t>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0A6"/>
                </a:solidFill>
                <a:latin typeface="Calibri"/>
              </a:rP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0A6"/>
                </a:solidFill>
                <a:latin typeface="Calibri"/>
              </a:rPr>
              <a:t>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74320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Why this matters
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Phase 2 is a swap, not a rewrite. Same SDK call, new adapter. </a:t>
            </a:r>
            <a:r>
              <a:rPr sz="1100" b="1" i="0">
                <a:solidFill>
                  <a:srgbClr val="14F195"/>
                </a:solidFill>
                <a:latin typeface="Calibri"/>
              </a:rPr>
              <a:t>Players take their muscle memory with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 Black"/>
              </a:rPr>
              <a:t>Two structural shifts.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10881360" cy="169164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9945FF"/>
                </a:solidFill>
                <a:latin typeface="Arial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743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Wallet UX flipped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33756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A6"/>
                </a:solidFill>
                <a:latin typeface="Calibri"/>
              </a:rPr>
              <a:t>Phantom + Hyperliquid lowered the on-chain trading on-ramp from days to minutes. A 22-year-old can fund a wallet and place a perp in under 4 minutes. The infrastructure barrier is gone.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0881360" cy="169164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4F195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6177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Memecoin season trained 8M+ wallets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521208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A6"/>
                </a:solidFill>
                <a:latin typeface="Calibri"/>
              </a:rPr>
              <a:t>Pump.fun, Bonk, and the post-2024 launch culture taught a generation to swap on-chain. They have wallets. They have liquidity. They don't have a way to learn anything beyond "press buy."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The infra is here. The skill on-ramp is missing. </a:t>
            </a:r>
            <a:r>
              <a:rPr sz="1300" b="1" i="0">
                <a:solidFill>
                  <a:srgbClr val="14F195"/>
                </a:solidFill>
                <a:latin typeface="Calibri"/>
              </a:rPr>
              <a:t>Nobody owns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Black"/>
              </a:rPr>
              <a:t>Shipping discipline you can audit.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4572000" cy="329184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0" b="1" i="0">
                <a:solidFill>
                  <a:srgbClr val="14F195"/>
                </a:solidFill>
                <a:latin typeface="Arial Black"/>
              </a:rPr>
              <a:t>230+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atomic version 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each parse-validated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12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each with reasoning in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468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F195"/>
                </a:solidFill>
                <a:latin typeface="Calibri"/>
              </a:rPr>
              <a:t>Milestones already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971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971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0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246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Single-file playable, 9 OS apps, 5 trackers, 6 SDK primitives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474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474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1 SDK skeleton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7490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ES modules, RiskManager parity tests, demo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97763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M5 Solana paper-mode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2519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Ed25519 wallet + session + approver + parity vectors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805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4805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Constitutional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7548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Enforced across 230+ commits — SDK never bypassed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98347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9834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Public demo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25779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GitHub Pages folder ready (chartrunner-prototype/)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48639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F195"/>
                </a:solidFill>
                <a:latin typeface="Calibri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48639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Pitch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7607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Deck + 9 docs + video script + X launch 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Black"/>
              </a:rPr>
              <a:t>Four wedges nobody else has.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349240" cy="18288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5349240" cy="109728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9945FF"/>
                </a:solidFill>
                <a:latin typeface="Arial Black"/>
              </a:rPr>
              <a:t>Gamified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TradingView and Phantom aren't.
Learn-by-doing, minute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468880"/>
            <a:ext cx="5349240" cy="18288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468880"/>
            <a:ext cx="5349240" cy="109728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4F195"/>
                </a:solidFill>
                <a:latin typeface="Arial Black"/>
              </a:rPr>
              <a:t>Skill-building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38328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Bitget Quest and Coinbase Learn aren't.
Reps build muscle memory, not trivia.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5349240" cy="18288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5349240" cy="109728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0B90B"/>
                </a:solidFill>
                <a:latin typeface="Arial Black"/>
              </a:rPr>
              <a:t>On-chain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TradingView Paper isn't.
Phase 2 routes through Solana devnet.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480560"/>
            <a:ext cx="5349240" cy="18288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480560"/>
            <a:ext cx="5349240" cy="1097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8006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4D6D"/>
                </a:solidFill>
                <a:latin typeface="Arial Black"/>
              </a:rPr>
              <a:t>SDK-portable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39496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Every gamified competitor locks the player to one venue.
We drop on any chart.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0A6"/>
                </a:solidFill>
                <a:latin typeface="Calibri"/>
              </a:rPr>
              <a:t>We are a runtime artifact, not a SaaS. </a:t>
            </a:r>
            <a:r>
              <a:rPr sz="1200" b="1" i="0">
                <a:solidFill>
                  <a:srgbClr val="14F195"/>
                </a:solidFill>
                <a:latin typeface="Calibri"/>
              </a:rPr>
              <a:t>Distribution asymmetry.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From single-file demo to live Solana trades.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3657600" cy="36576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D0D14"/>
                </a:solidFill>
                <a:latin typeface="Arial Black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F195"/>
                </a:solidFill>
                <a:latin typeface="Calibri"/>
              </a:rPr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Playable single-file MVP
· Real Binance candles
· 6 SDK primitives
· 5 tracker views
· Workbench Pine builder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86000"/>
            <a:ext cx="3657600" cy="36576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286000"/>
            <a:ext cx="3657600" cy="365760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D0D14"/>
                </a:solidFill>
                <a:latin typeface="Arial Black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0B90B"/>
                </a:solidFill>
                <a:latin typeface="Calibri"/>
              </a:rPr>
              <a:t>ARCHITECTURE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4612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ChartHost adapter layer
· Drop UI on Dexscreener
· Drop on TradingView
· Drop on Birdeye
· npm @chartrunner/sdk@0.1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286000"/>
            <a:ext cx="3657600" cy="36576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286000"/>
            <a:ext cx="3657600" cy="36576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D0D14"/>
                </a:solidFill>
                <a:latin typeface="Arial Black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945FF"/>
                </a:solidFill>
                <a:latin typeface="Calibri"/>
              </a:rP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4612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Live Solana devnet
· Phantom-Connect
· Real on-chain fills
· P2P creator economy
· Multi-venue adapters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F195"/>
                </a:solidFill>
                <a:latin typeface="Calibri"/>
              </a:rPr>
              <a:t>Now</a:t>
            </a:r>
            <a:r>
              <a:rPr sz="1200" b="0" i="0">
                <a:solidFill>
                  <a:srgbClr val="9AA0A6"/>
                </a:solidFill>
                <a:latin typeface="Calibri"/>
              </a:rPr>
              <a:t>  →  90 days  →  </a:t>
            </a:r>
            <a:r>
              <a:rPr sz="1200" b="1" i="0">
                <a:solidFill>
                  <a:srgbClr val="9945FF"/>
                </a:solidFill>
                <a:latin typeface="Calibri"/>
              </a:rPr>
              <a:t>180 days</a:t>
            </a:r>
            <a:r>
              <a:rPr sz="1200" b="0" i="0">
                <a:solidFill>
                  <a:srgbClr val="9AA0A6"/>
                </a:solidFill>
                <a:latin typeface="Calibri"/>
              </a:rPr>
              <a:t>  →  Phase 2 mainnet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Three revenue lanes, one runtime.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10881360" cy="118872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3347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F195"/>
                </a:solidFill>
                <a:latin typeface="Arial Black"/>
              </a:rPr>
              <a:t>P2P creator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5% fee on every Workbench-built bot, strategy, and map sold for $SOL.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0632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A0A6"/>
                </a:solidFill>
                <a:latin typeface="Calibri"/>
              </a:rPr>
              <a:t>Creator-economy lock-in. TradingView can't match without breaking SaaS.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118872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13631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F195"/>
                </a:solidFill>
                <a:latin typeface="Arial Black"/>
              </a:rPr>
              <a:t>Game 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Vehicles, skins, themes priced in $RUN earned in-run. Free cosmetic loop with paid premium tier.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343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A0A6"/>
                </a:solidFill>
                <a:latin typeface="Calibri"/>
              </a:rPr>
              <a:t>F2P-style monetization, crypto-native settlement.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937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F195"/>
                </a:solidFill>
                <a:latin typeface="Arial Black"/>
              </a:rPr>
              <a:t>White-label 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Per-venue annual license for chart vendors and exchanges that want a gamified onboarding tab.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623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A0A6"/>
                </a:solidFill>
                <a:latin typeface="Calibri"/>
              </a:rPr>
              <a:t>Phantom · Drift · Hyperliquid · Birdeye are all candidate partners.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9AA0A6"/>
                </a:solidFill>
                <a:latin typeface="Calibri"/>
              </a:rPr>
              <a:t>  ·  Phase 0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Two open invites.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Phase 0 ships now.
Phase 1 in 90 days with a partner.
Phase 2 in 180 with seed.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188720"/>
            <a:ext cx="6492240" cy="2286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4630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4F195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4F195"/>
                </a:solidFill>
                <a:latin typeface="Arial Black"/>
              </a:rPr>
              <a:t>Devnet integration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Hyperliquid · Drift · Phoenix — first-class fit.
We bring the on-ramp; you bring the venue.
Co-signed integration spec, 90-day Phase 1 ship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657600"/>
            <a:ext cx="6492240" cy="2286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39319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0B90B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0233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0B90B"/>
                </a:solidFill>
                <a:latin typeface="Arial Black"/>
              </a:rPr>
              <a:t>Six-month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57200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Staffs the Phase 1 SDK extraction + Phase 2 Solana adapter.
1 Solana eng · 1 comms hire · 6 months runway.
Solana foundation grants in flight as parallel track.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ChartRunner</a:t>
            </a:r>
            <a:r>
              <a:rPr sz="1100" b="0" i="0">
                <a:solidFill>
                  <a:srgbClr val="14F195"/>
                </a:solidFill>
                <a:latin typeface="Calibri"/>
              </a:rPr>
              <a:t>  ·  Phase 0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9AA0A6"/>
                </a:solidFill>
                <a:latin typeface="Arial Black"/>
              </a:rPr>
              <a:t>The next 10 million traders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won't learn from PDFs.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1">
                <a:solidFill>
                  <a:srgbClr val="14F195"/>
                </a:solidFill>
                <a:latin typeface="Arial Black"/>
              </a:rPr>
              <a:t>They'll learn from a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9AA0A6"/>
                </a:solidFill>
                <a:latin typeface="Calibri"/>
              </a:rPr>
              <a:t>We're the on-ramp.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77840"/>
            <a:ext cx="10881360" cy="36576"/>
          </a:xfrm>
          <a:prstGeom prst="rect">
            <a:avLst/>
          </a:prstGeom>
          <a:solidFill>
            <a:srgbClr val="2A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github.com/chartrunner-xyz/chartrunner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760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@chartrunner_xyz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760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chartrunner.xyz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Repo · X · 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